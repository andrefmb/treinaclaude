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Sinistralidade %</c:v>
                </c:pt>
              </c:strCache>
            </c:strRef>
          </c:tx>
          <c:spPr>
            <a:solidFill>
              <a:srgbClr val="2E7D8A"/>
            </a:solidFill>
            <a:ln w="38100" cap="flat">
              <a:solidFill>
                <a:srgbClr val="2E7D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323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8A"/>
              </a:solidFill>
              <a:ln w="9525" cap="flat">
                <a:solidFill>
                  <a:srgbClr val="2E7D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1T24</c:v>
                  </c:pt>
                  <c:pt idx="1">
                    <c:v>2T24</c:v>
                  </c:pt>
                  <c:pt idx="2">
                    <c:v>3T24</c:v>
                  </c:pt>
                  <c:pt idx="3">
                    <c:v>4T24</c:v>
                  </c:pt>
                  <c:pt idx="4">
                    <c:v>1T25</c:v>
                  </c:pt>
                  <c:pt idx="5">
                    <c:v>2T25</c:v>
                  </c:pt>
                  <c:pt idx="6">
                    <c:v>3T25</c:v>
                  </c:pt>
                  <c:pt idx="7">
                    <c:v>4T25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24</c:v>
                </c:pt>
                <c:pt idx="2">
                  <c:v>27</c:v>
                </c:pt>
                <c:pt idx="3">
                  <c:v>31</c:v>
                </c:pt>
                <c:pt idx="4">
                  <c:v>33</c:v>
                </c:pt>
                <c:pt idx="5">
                  <c:v>36</c:v>
                </c:pt>
                <c:pt idx="6">
                  <c:v>39</c:v>
                </c:pt>
                <c:pt idx="7">
                  <c:v>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323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3 horas, ~60% mão na massa. Tudo gira em torno de uma seguradora fictícia de seguro garantia (Bastião). Regra desde já: só dados fictícios.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da jornada. O coração é o bloco 03 (casos de uso) e o 04 (construir). Não se prenda: priorize mão na massa se o tempo apertar.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Instale a disciplina de dados logo no início. Todo o material do dia é fictício de propósito para podermos construir à vontade.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à sala: quanto tempo o time gasta lendo e resumindo antes de decidir? É exatamente esse tempo que devolvemos.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ideia que organiza o dia inteiro. Não estamos aprendendo um software; estamos aprendendo a delegar e a revisar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Orientação rápida. Anthropic = empresa de segurança em IA (2021); Claude lançado em 2023; família Haiku/Sonnet/Opus desde 2024; hoje geração 4.x. Posicionamento: útil, honesto e cuidadoso.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 do que ele faz: vai muito além de conversar — lê documentos, analisa dados, pesquisa, cria entregáveis e enxerga imagens.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Voltaremos a “quando usar cada um” na prática. Nomes mudam (hoje Haiku 4.5 / Sonnet 4.6 / Opus 4.8); a lógica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minutos em cada verdade. A segunda (erra com confiança) é a que mais importa para a postura de subscritor responsável.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a turma rodar. Circule pela sala. Pergunte: as incertezas que ele listou fazem sentido? Já é uma checagem.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brief não é escrever bonito; é dar contexto, público e formato. Se só lembrarem de uma coisa: público + formato.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dois ao vivo se der. A diferença é visível no próprio texto da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dupla roda as duas. Debrief: o que mudou? Contexto, público e formato.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dos exercícios. A sinistralidade sobe, há concentração em Construção/Sudeste, e a Pilar (maior risco) pede uma garantia grande. É a decisão que vão simular.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documento alimenta os números das próximas telas. Debrief: pegou a liquidez 0,9, a alavancagem, as contingências e a concentração de recebíveis?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Cálculo + visualização: a IA computa, o executivo interpreta.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Concentração é tema de board. A nova garantia faz a Pilar estourar o limite?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coração da agenda do executivo: cenário e preço. Peça sempre as premissas.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um (ou dupla) escolhe uma trilha conforme o papel. O importante é levar do documento ao entregável.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passo 4 (autocrítica) é o que separa o uso amador do profissional. Sempre peça as fraquezas e o que verificar.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brief produz um parecer estruturado e auditável. O [VERIFICAR] é a rede de segurança. Ao final, peça o 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níveis, do mais amplo ao mais específico. As preferências e as instruções de Projeto economizam reescrever o brief toda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Desmistifique: Skills já estão em ação. As prontas (Word/Excel/PowerPoint/PDF) cobrem a maior parte do trabalho de entregável. Mostre onde ligar em Configurações e Personalizar.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Skill de PowerPoint entra sozinha e formata o deck. Variação: peça uma planilha de exposição por tomador, com % do limite (Skill de Excel).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exercício que fecha o conceito: cada um cria uma Skill simples e a vê funcionar. Comece simples — instruções em texto bastam; dá para evoluir depois. A descrição é o que faz a Skill ‘aparecer’ na hora certa.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MCP/Conectores tiram o Claude do 'trabalha no que você cola' para 'trabalha nas suas fontes aprovadas'. Prontos (Drive, e-mail, Slack...) e conector personalizado para sistemas internos. Se houver um conector seguro, faça uma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mcp-brasil (github.com/Mcp-Brasil/mcp-brasil) é open-source e cobre dados oficiais. Ele é local (uvx/Python) — para o app/web, o ideal é o TI publicar num endereço HTTPS e provisionar como conector da organização. É dado público; complementa, não substitui, as bases internas.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o módulo de subscrição ao mundo real: edital de verdade + checagem pública do tomador + macro para o preço.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é poder + responsabilidade. Reforce: só fontes aprovadas, escopo de leitura, provisionamento por Owners. O exercício é de planejamento e respeita a regra do dado fictício: quais 3 fontes conectar e como governar cada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demonstração ao vivo. O cético da sala vira seu aliado quando vê a alucinação acontecer e entende a regra de verificação.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Existem versões corporativas com políticas próprias de retenção e privacidade. A regra de ferramentas e dados aprovados é decisão de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alavancas de liderança. O checklist completo está no guia do facilitador (Apêndice 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um escreve os três compromissos em voz alta ou num cartão. Compromisso público gruda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554480"/>
            <a:ext cx="4937760" cy="4937760"/>
          </a:xfrm>
          <a:prstGeom prst="ellipse">
            <a:avLst/>
          </a:prstGeom>
          <a:solidFill>
            <a:srgbClr val="2E7D8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3108960"/>
            <a:ext cx="3291840" cy="3291840"/>
          </a:xfrm>
          <a:prstGeom prst="ellipse">
            <a:avLst/>
          </a:prstGeom>
          <a:solidFill>
            <a:srgbClr val="6FB3BE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EXECUTIVO  •  SEGURO GARANTIA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Dominando o Claude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7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prática diária à subscrição assistida por IA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457200" cy="45720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hands-on de 3 horas  •  Alta liderança  •  Caso fictício: Bastião Seguradora S.A.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USAR AS 3 HORAS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— por que isso importa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97135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83664"/>
            <a:ext cx="365760" cy="365760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188366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Conhecendo o Claude — o que é, faz e modelos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97135" y="18836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304288"/>
            <a:ext cx="365760" cy="365760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23042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sem jargão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97135" y="2304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724912"/>
            <a:ext cx="365760" cy="365760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27249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brief executivo: como delegar bem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97135" y="27249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145536"/>
            <a:ext cx="365760" cy="36576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7008" y="31455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97135" y="31455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07008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— seguro garantia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97135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986784"/>
            <a:ext cx="365760" cy="365760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07008" y="3986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algo de verdade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997135" y="39867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4407408"/>
            <a:ext cx="365760" cy="365760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07008" y="44074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e Skills — usar e construir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997135" y="4407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828032"/>
            <a:ext cx="365760" cy="365760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07008" y="48280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 (MCP) — com o mcp-brasil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997135" y="4828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0080" y="5248656"/>
            <a:ext cx="365760" cy="365760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207008" y="524865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governança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997135" y="52486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min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" y="5669280"/>
            <a:ext cx="365760" cy="365760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207008" y="5669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30-60-90 e fechamento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997135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regra de hoje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3566160"/>
          </a:xfrm>
          <a:prstGeom prst="roundRect">
            <a:avLst>
              <a:gd name="adj" fmla="val 2051"/>
            </a:avLst>
          </a:prstGeom>
          <a:solidFill>
            <a:srgbClr val="EEF4F6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377440"/>
            <a:ext cx="1371600" cy="1371600"/>
          </a:xfrm>
          <a:prstGeom prst="ellipse">
            <a:avLst/>
          </a:prstGeom>
          <a:solidFill>
            <a:srgbClr val="1432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747772"/>
            <a:ext cx="630936" cy="630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17520" y="2331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Somente dados fictícios.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017520" y="31089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cole dados reais de tomadores, segurados ou pessoas (dados pessoais — LGPD)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ferramentas que a empresa ainda não aprovou.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disciplina começa agora e volta no módulo de governança.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2E7D8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7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Abertura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 para uma seguradora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trabalho da seguradora é ler, cruzar e julgar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6285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777240" cy="777240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975" y="235869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6324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960120" y="356616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Editais, contratos, condições gerais e balanços de tomadores — centenas de páginas.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14418" y="1828800"/>
            <a:ext cx="336285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4458" y="2148840"/>
            <a:ext cx="777240" cy="777240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313" y="235869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4458" y="306324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Cruzar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4734458" y="356616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tomador contra a carteira, o edital contra as condições, o risco contra o limite.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88757" y="1828800"/>
            <a:ext cx="3362858" cy="2697480"/>
          </a:xfrm>
          <a:prstGeom prst="roundRect">
            <a:avLst>
              <a:gd name="adj" fmla="val 2712"/>
            </a:avLst>
          </a:prstGeom>
          <a:solidFill>
            <a:srgbClr val="EEF4F6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8797" y="2148840"/>
            <a:ext cx="777240" cy="777240"/>
          </a:xfrm>
          <a:prstGeom prst="ellipse">
            <a:avLst/>
          </a:prstGeom>
          <a:solidFill>
            <a:srgbClr val="B08D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652" y="235869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8797" y="306324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Julgar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8508797" y="356616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Subscrever, precificar, decidir o sinistro. É aqui que está o valor.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48006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Claude faz a leitura e o cruzamento em minutos. </a:t>
            </a:r>
            <a:pPr algn="ctr" indent="0" marL="0">
              <a:buNone/>
            </a:pPr>
            <a:r>
              <a:rPr lang="en-US" sz="160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libera o time para o julgamento — que continua sendo humano.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MENTAL DO DIA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Trate o Claude como um analista sênior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00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658368" cy="658368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159" y="2299167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29968"/>
            <a:ext cx="3969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Lê e organiza muito rápido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432304"/>
            <a:ext cx="3969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Resume, extrai e estrutura grandes documentos em minutos.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1588" y="1828800"/>
            <a:ext cx="52500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75908" y="2121408"/>
            <a:ext cx="658368" cy="658368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667" y="2299167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98868" y="2029968"/>
            <a:ext cx="3969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conhece seu contexto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398868" y="2432304"/>
            <a:ext cx="3969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da sua carteira, políticas e alçadas — a menos que você conte.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429000"/>
            <a:ext cx="52500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721608"/>
            <a:ext cx="658368" cy="658368"/>
          </a:xfrm>
          <a:prstGeom prst="ellipse">
            <a:avLst/>
          </a:prstGeom>
          <a:solidFill>
            <a:srgbClr val="9C57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159" y="3899367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630168"/>
            <a:ext cx="3969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 errar com confiança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37360" y="4032504"/>
            <a:ext cx="3969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vezes afirma um número ou cláusula errados com total convicção.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1588" y="3429000"/>
            <a:ext cx="52500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75908" y="3721608"/>
            <a:ext cx="658368" cy="658368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667" y="3899367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98868" y="3630168"/>
            <a:ext cx="3969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sempre revisa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98868" y="4032504"/>
            <a:ext cx="3969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é um rascunho de analista. A decisão e a responsabilidade são suas.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5212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subscrição isso é literal: ele lê, o subscritor decide e responde.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2E7D8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7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Conhecendo o Claude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o que faz e os modelos disponíveis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CONHECENDO O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Claude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Claude é um assistente de inteligência artificial criado pela Anthropic.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conversa em linguagem natural — ele lê, escreve, analisa e raciocina sobre textos, documentos e dados.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Anthropic é uma empresa de pesquisa focada em segurança de IA (uma “public benefit corporation”).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de design: ser útil, honesto e cuidadoso.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no navegador, no app, no celular e integrado a outras ferramentas.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818120" y="1444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BREVE HISTÓRIA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82712" y="2039112"/>
            <a:ext cx="0" cy="2523744"/>
          </a:xfrm>
          <a:prstGeom prst="line">
            <a:avLst/>
          </a:prstGeom>
          <a:noFill/>
          <a:ln w="25400">
            <a:solidFill>
              <a:srgbClr val="6FB3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1874520"/>
            <a:ext cx="329184" cy="329184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1828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21040" y="2112264"/>
            <a:ext cx="3230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é fundada, com foco em IA segura e confiável.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18120" y="2715768"/>
            <a:ext cx="329184" cy="329184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670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2953512"/>
            <a:ext cx="3230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Claude é lançado ao público (março).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18120" y="3557016"/>
            <a:ext cx="329184" cy="329184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35112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3794760"/>
            <a:ext cx="3230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a família de três modelos: Haiku, Sonnet e Opus.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18120" y="4398264"/>
            <a:ext cx="329184" cy="329184"/>
          </a:xfrm>
          <a:prstGeom prst="ellipse">
            <a:avLst/>
          </a:prstGeom>
          <a:solidFill>
            <a:srgbClr val="B08D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4352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HOJE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4636008"/>
            <a:ext cx="3230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4.x, em evolução rápida (atualmente Opus 4.8).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CONHECENDO O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Claude faz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640080" cy="640080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257654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761488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Conversar e explicar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64208" y="2103120"/>
            <a:ext cx="2158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Tirar dúvidas, explicar temas e ajudar a pensar.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99178" y="182880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5210" y="2084832"/>
            <a:ext cx="640080" cy="640080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257654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5210" y="2761488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 e resumir documentos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23306" y="2103120"/>
            <a:ext cx="2158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Editais, contratos, balanços e condições gerais.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8277" y="182880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4309" y="2084832"/>
            <a:ext cx="640080" cy="640080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130" y="2257654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4309" y="2761488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Analisar dados e planilhas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182405" y="2103120"/>
            <a:ext cx="2158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Carteira, sinistralidade, concentração de risco.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52044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776472"/>
            <a:ext cx="640080" cy="640080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934" y="3949294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453128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Pesquisar na web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664208" y="3794760"/>
            <a:ext cx="2158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Notícias, regulação e due diligence — com fontes.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99178" y="352044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55210" y="3776472"/>
            <a:ext cx="640080" cy="640080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949294"/>
            <a:ext cx="294437" cy="2944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55210" y="4453128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arquivos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423306" y="3794760"/>
            <a:ext cx="2158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Pareceres em Word, planilhas, slides e PDFs.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58277" y="352044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4309" y="3776472"/>
            <a:ext cx="640080" cy="640080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7130" y="3949294"/>
            <a:ext cx="294437" cy="29443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4309" y="4453128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 imagens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9182405" y="3794760"/>
            <a:ext cx="2158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documentos escaneados, fotos e prints.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5074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mais:  </a:t>
            </a:r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a sistemas internos, Claude no Excel e no PowerPoint, e o Cowork para delegar tarefas de várias etapas.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CONHECENDO O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modelos do Claude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Claude vem em três “tamanhos” da mesma família — ferramentas para trabalhos diferentes.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6285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3362858" cy="640080"/>
          </a:xfrm>
          <a:prstGeom prst="rect">
            <a:avLst/>
          </a:prstGeom>
          <a:solidFill>
            <a:srgbClr val="6FB3B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21992"/>
            <a:ext cx="3362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Haiku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999232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e leve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401568"/>
            <a:ext cx="28142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Triagem, resumos curtos, extração e classificação de avisos.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4418" y="2148840"/>
            <a:ext cx="336285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4418" y="2148840"/>
            <a:ext cx="3362858" cy="6400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2" name="Text 10"/>
          <p:cNvSpPr/>
          <p:nvPr/>
        </p:nvSpPr>
        <p:spPr>
          <a:xfrm>
            <a:off x="4414418" y="2221992"/>
            <a:ext cx="3362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Sonnet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88738" y="2999232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versátil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88738" y="3401568"/>
            <a:ext cx="28142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Escrita, análise, várias etapas e criação de documentos. Comece aqui.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8757" y="2148840"/>
            <a:ext cx="336285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8757" y="2148840"/>
            <a:ext cx="3362858" cy="640080"/>
          </a:xfrm>
          <a:prstGeom prst="rect">
            <a:avLst/>
          </a:prstGeom>
          <a:solidFill>
            <a:srgbClr val="14323F"/>
          </a:solidFill>
          <a:ln/>
        </p:spPr>
      </p:sp>
      <p:sp>
        <p:nvSpPr>
          <p:cNvPr id="17" name="Text 15"/>
          <p:cNvSpPr/>
          <p:nvPr/>
        </p:nvSpPr>
        <p:spPr>
          <a:xfrm>
            <a:off x="8188757" y="2221992"/>
            <a:ext cx="3362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Opus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63077" y="2999232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profundo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63077" y="3401568"/>
            <a:ext cx="28142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longos e decisões de alto risco. Ex.: o parecer de subscrição.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 </a:t>
            </a:r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no Sonnet; suba para o Opus em documento longo ou decisão difícil; use o Haiku no volume simples.  </a:t>
            </a:r>
            <a:pPr algn="ctr"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traz Haiku e Sonnet; Pro e Max somam o Opus.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2E7D8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7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verdades que mudam o uso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verdades para usar bem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6285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362858" cy="109728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240280"/>
            <a:ext cx="822960" cy="822960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2319" y="246247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200400"/>
            <a:ext cx="2722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é tudo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3840480"/>
            <a:ext cx="27227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edital, o balanço e o público, a resposta é genérica. Dê o material e diga quem vai ler.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14418" y="1828800"/>
            <a:ext cx="336285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14418" y="1828800"/>
            <a:ext cx="3362858" cy="109728"/>
          </a:xfrm>
          <a:prstGeom prst="rect">
            <a:avLst/>
          </a:prstGeom>
          <a:solidFill>
            <a:srgbClr val="9C5700"/>
          </a:solidFill>
          <a:ln/>
        </p:spPr>
      </p:sp>
      <p:sp>
        <p:nvSpPr>
          <p:cNvPr id="12" name="Shape 9"/>
          <p:cNvSpPr/>
          <p:nvPr/>
        </p:nvSpPr>
        <p:spPr>
          <a:xfrm>
            <a:off x="4734458" y="2240280"/>
            <a:ext cx="822960" cy="822960"/>
          </a:xfrm>
          <a:prstGeom prst="ellipse">
            <a:avLst/>
          </a:prstGeom>
          <a:solidFill>
            <a:srgbClr val="9C570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658" y="2462479"/>
            <a:ext cx="378562" cy="3785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34458" y="3200400"/>
            <a:ext cx="2722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 errar com confiança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734458" y="3840480"/>
            <a:ext cx="27227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“alucinação”: parece certo e está errado. Nada de valor ou cláusula vai adiante sem verificação.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88757" y="1828800"/>
            <a:ext cx="336285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88757" y="1828800"/>
            <a:ext cx="3362858" cy="109728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8" name="Shape 14"/>
          <p:cNvSpPr/>
          <p:nvPr/>
        </p:nvSpPr>
        <p:spPr>
          <a:xfrm>
            <a:off x="8508797" y="2240280"/>
            <a:ext cx="822960" cy="822960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996" y="2462479"/>
            <a:ext cx="378562" cy="3785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08797" y="3200400"/>
            <a:ext cx="2722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probabilístico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508797" y="3840480"/>
            <a:ext cx="27227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duas vezes e terá variações. Ótimo para gerar opções; exige cuidado quando precisa de exatidão.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  •  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Exercício 1 — Poder e limite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1499616"/>
          </a:xfrm>
          <a:prstGeom prst="rect">
            <a:avLst/>
          </a:prstGeom>
          <a:solidFill>
            <a:srgbClr val="F4F1EA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82296" cy="1499616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4825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no Claude: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432304"/>
            <a:ext cx="1045433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Explique, em 4 frases, o que um subscritor de seguro garantia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olha para decidir sobre uma garantia de execução de contrato.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Depois, liste 3 afirmações suas das quais você tem MENOS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certeza e que eu deveria verificar.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que ele aponte as próprias incertezas já instala o hábito de revisão crítica.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2E7D8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7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brief executivo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habilidade que mais melhora resultados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BRIEF EXECUTIVO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Anatomia de um bom brief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962851" cy="237744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9754" y="2194560"/>
            <a:ext cx="603504" cy="603504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6" name="Text 4"/>
          <p:cNvSpPr/>
          <p:nvPr/>
        </p:nvSpPr>
        <p:spPr>
          <a:xfrm>
            <a:off x="1319754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337560"/>
            <a:ext cx="17433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você e qual a situação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77251" y="1920240"/>
            <a:ext cx="1962851" cy="237744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56925" y="2194560"/>
            <a:ext cx="603504" cy="603504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11" name="Text 9"/>
          <p:cNvSpPr/>
          <p:nvPr/>
        </p:nvSpPr>
        <p:spPr>
          <a:xfrm>
            <a:off x="3556925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68691" y="2926080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Tarefa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86979" y="3337560"/>
            <a:ext cx="17433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quer, exatamente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14422" y="1920240"/>
            <a:ext cx="1962851" cy="237744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94096" y="2194560"/>
            <a:ext cx="603504" cy="603504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16" name="Text 14"/>
          <p:cNvSpPr/>
          <p:nvPr/>
        </p:nvSpPr>
        <p:spPr>
          <a:xfrm>
            <a:off x="5794096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05862" y="2926080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24150" y="3337560"/>
            <a:ext cx="17433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em qual documento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51593" y="1920240"/>
            <a:ext cx="1962851" cy="237744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31267" y="2194560"/>
            <a:ext cx="603504" cy="603504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8031267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43033" y="2926080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Restrições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61321" y="3337560"/>
            <a:ext cx="17433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limites respeitar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764" y="1920240"/>
            <a:ext cx="1962851" cy="237744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68438" y="2194560"/>
            <a:ext cx="603504" cy="603504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26" name="Text 24"/>
          <p:cNvSpPr/>
          <p:nvPr/>
        </p:nvSpPr>
        <p:spPr>
          <a:xfrm>
            <a:off x="10268438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80204" y="2926080"/>
            <a:ext cx="1779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8492" y="3337560"/>
            <a:ext cx="17433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e em que forma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663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 que vale por todos:  </a:t>
            </a:r>
            <a:pPr algn="ctr" indent="0" marL="0">
              <a:buNone/>
            </a:pPr>
            <a:r>
              <a:rPr lang="en-US" sz="18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o público e o formato.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SALTO DE QUALIDADE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Mesma pergunta, resultados diferentes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27168" cy="3108960"/>
          </a:xfrm>
          <a:prstGeom prst="roundRect">
            <a:avLst>
              <a:gd name="adj" fmla="val 2353"/>
            </a:avLst>
          </a:prstGeom>
          <a:solidFill>
            <a:srgbClr val="F2F6F7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FRACO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“Analise o edital.”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200400"/>
            <a:ext cx="458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genérica, sem foco no que você decide.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22716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4448" y="1828800"/>
            <a:ext cx="109728" cy="3108960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0" name="Text 8"/>
          <p:cNvSpPr/>
          <p:nvPr/>
        </p:nvSpPr>
        <p:spPr>
          <a:xfrm>
            <a:off x="6644488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BRIEF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44488" y="2423160"/>
            <a:ext cx="458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“Resuma o edital em 6 tópicos para o comitê, destacando as cláusulas de garantia, e diga o que devo verificar.”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44488" y="429768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a reunião — e com o que conferir.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  •  10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Exercício 2 — Uma linha vs. um brief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27168" cy="854964"/>
          </a:xfrm>
          <a:prstGeom prst="rect">
            <a:avLst/>
          </a:prstGeom>
          <a:solidFill>
            <a:srgbClr val="F4F1EA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854964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1109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fraca: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295144"/>
            <a:ext cx="47699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Fale sobre o edital da Bastião.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4448" y="1783080"/>
            <a:ext cx="5227168" cy="1929384"/>
          </a:xfrm>
          <a:prstGeom prst="rect">
            <a:avLst/>
          </a:prstGeom>
          <a:solidFill>
            <a:srgbClr val="F4F1EA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783080"/>
            <a:ext cx="82296" cy="1929384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0" name="Text 8"/>
          <p:cNvSpPr/>
          <p:nvPr/>
        </p:nvSpPr>
        <p:spPr>
          <a:xfrm>
            <a:off x="6580480" y="191109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brief: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0480" y="2295144"/>
            <a:ext cx="476996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Você assessora o comitê de subscrição da Bastião.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 base no arquivo “Bastiao_Edital_e_Tomador”,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resuma em até 6 tópicos as exigências de garantia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(valor, modalidade, vigência, retomada, multas) para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comitê. Ao final, liste o que eu devo conferir no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documento original antes de decidir.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as duas respostas com a turma.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463040"/>
            <a:ext cx="1828800" cy="1828800"/>
          </a:xfrm>
          <a:prstGeom prst="ellipse">
            <a:avLst/>
          </a:prstGeom>
          <a:solidFill>
            <a:srgbClr val="2E7D8A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918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Intervalo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 •  ao voltar, deixe a planilha e os documentos abertos no Projeto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2E7D8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7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Casos de uso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Ler, calcular, precificar e decidir — a rotina de subscrição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TURMA VAI ANALISAR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carteira da Bastião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766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Sinistralidade por trimestre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863840" y="1828800"/>
            <a:ext cx="368777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92440" y="1938528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 → 79%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092440" y="2395728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combinado: ainda lucrativo, mas piorando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63840" y="2990088"/>
            <a:ext cx="368777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92440" y="3099816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4,8x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092440" y="3557016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 da Construtora Pilar (liquidez 0,9)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63840" y="4151376"/>
            <a:ext cx="3687775" cy="1051560"/>
          </a:xfrm>
          <a:prstGeom prst="roundRect">
            <a:avLst>
              <a:gd name="adj" fmla="val 6957"/>
            </a:avLst>
          </a:prstGeom>
          <a:solidFill>
            <a:srgbClr val="EEF4F6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92440" y="4261104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R$ 60 mi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092440" y="4718304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pedida — empurra a exposição acima do limite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 — LER O GRANDE DOCUMENTO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Resumir o dossiê do edital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714500"/>
          </a:xfrm>
          <a:prstGeom prst="rect">
            <a:avLst/>
          </a:prstGeom>
          <a:solidFill>
            <a:srgbClr val="F4F1EA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714500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1109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no Claude: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295144"/>
            <a:ext cx="10454335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 base no arquivo “Bastiao_Edital_e_Tomador” do Projeto,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produza um resumo executivo de 1 página: objeto e prazo,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exigências de garantia (valor, modalidade, vigência, retomada,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multas) e os 5 pontos de risco mais relevantes. Cite a seção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cada ponto.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— ANALISAR A CARTEIRA E CALCULAR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Sinistralidade, prêmio médio e taxa por ramo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714500"/>
          </a:xfrm>
          <a:prstGeom prst="rect">
            <a:avLst/>
          </a:prstGeom>
          <a:solidFill>
            <a:srgbClr val="F4F1EA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714500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1109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no Claude: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295144"/>
            <a:ext cx="10454335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as abas “Resumo da Carteira” e “Apólices”.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Descreva a tendência de sinistralidade e índice combinado.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 Calcule o prêmio médio e a taxa média ponderada pela IS,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ramo. (3) Aponte onde podemos estar cobrando barato pelo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risco. Gere um gráfico da sinistralidade por trimestre.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726180"/>
            <a:ext cx="10911535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E7D3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726180"/>
            <a:ext cx="82296" cy="640080"/>
          </a:xfrm>
          <a:prstGeom prst="rect">
            <a:avLst/>
          </a:prstGeom>
          <a:solidFill>
            <a:srgbClr val="9C5700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72618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9C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as fórmulas e os números na planilha antes de citar.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 — RISCO E CONCENTRAÇÃO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Exposição, concentração e limites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714500"/>
          </a:xfrm>
          <a:prstGeom prst="rect">
            <a:avLst/>
          </a:prstGeom>
          <a:solidFill>
            <a:srgbClr val="F4F1EA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714500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1109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no Claude: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295144"/>
            <a:ext cx="10454335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as abas “Apólices” e “Tomadores”. Calcule a exposição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por setor e por região e o % concentrado em Construção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no Sudeste. Liste os tomadores acima do limite aprovado.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fim, calcule o efeito da nova garantia de R$ 60 mi da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Pilar sobre a exposição e o limite dela.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— PRECIFICAÇÃO E CENÁRIO DE ESTRESSE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Preço pelo risco e teste de estresse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2144268"/>
          </a:xfrm>
          <a:prstGeom prst="rect">
            <a:avLst/>
          </a:prstGeom>
          <a:solidFill>
            <a:srgbClr val="F4F1EA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214426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1109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no Claude: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295144"/>
            <a:ext cx="10454335" cy="159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Dois cálculos: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Cenário de estresse: se a sinistralidade do próximo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trimestre subir para 48%, recalcule o índice combinado e o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de subscrição (mantendo as despesas).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 Precificação: para a garantia de R$ 60 mi da Pilar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(rating BB-), estime a perda esperada e o prêmio mínimo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cobri-la com margem. Liste as premissas que usou.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155948"/>
            <a:ext cx="10911535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E7D3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4155948"/>
            <a:ext cx="82296" cy="640080"/>
          </a:xfrm>
          <a:prstGeom prst="rect">
            <a:avLst/>
          </a:prstGeom>
          <a:solidFill>
            <a:srgbClr val="9C5700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4155948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9C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 aqui é direcional — valide com a atuária e trate como rascunho.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2E7D8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7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 algo de verdade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documento ao entregável final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— ESCOLHA SUA TRILHA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entregáveis, um por papel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00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57984"/>
            <a:ext cx="713232" cy="713232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973" y="2350557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392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Parecer de subscrição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377440"/>
            <a:ext cx="3924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SUBSCRIÇÃO / RISCO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783080" y="2633472"/>
            <a:ext cx="3924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páginas sobre a garantia da Pilar, com recomendação e condições.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1588" y="1828800"/>
            <a:ext cx="52500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75908" y="2157984"/>
            <a:ext cx="713232" cy="713232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480" y="2350557"/>
            <a:ext cx="328087" cy="3280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44588" y="2011680"/>
            <a:ext cx="392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Resumo de sinistros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444588" y="2377440"/>
            <a:ext cx="3924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SINISTROS / DIRETORIA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44588" y="2633472"/>
            <a:ext cx="3924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Súmula dos sinistros em aberto e proposta de prioridades.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520440"/>
            <a:ext cx="52500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3849624"/>
            <a:ext cx="713232" cy="713232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973" y="4042197"/>
            <a:ext cx="328087" cy="3280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3703320"/>
            <a:ext cx="392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 de risco ao board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783080" y="4069080"/>
            <a:ext cx="3924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RISCO / ATUÁRIA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783080" y="4325112"/>
            <a:ext cx="3924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Sinistralidade, concentração e um cenário de estresse — com números.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301588" y="3520440"/>
            <a:ext cx="52500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75908" y="3849624"/>
            <a:ext cx="713232" cy="713232"/>
          </a:xfrm>
          <a:prstGeom prst="ellipse">
            <a:avLst/>
          </a:prstGeom>
          <a:solidFill>
            <a:srgbClr val="2E7D8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480" y="4042197"/>
            <a:ext cx="328087" cy="3280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44588" y="3703320"/>
            <a:ext cx="392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Comunicação ao tomador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444588" y="4069080"/>
            <a:ext cx="3924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/ CX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444588" y="4325112"/>
            <a:ext cx="3924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 aprovação condicionada ou recusa, em dois tons.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TRILHA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passos do brief ao entregável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06240" y="1874520"/>
            <a:ext cx="7345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+ tarefa + materiais + público + formato.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423160"/>
            <a:ext cx="0" cy="292608"/>
          </a:xfrm>
          <a:prstGeom prst="line">
            <a:avLst/>
          </a:prstGeom>
          <a:noFill/>
          <a:ln w="19050">
            <a:solidFill>
              <a:srgbClr val="6FB3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15768"/>
            <a:ext cx="548640" cy="548640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715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Rascunho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06240" y="2715768"/>
            <a:ext cx="7345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o primeiro e leia criticamente.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264408"/>
            <a:ext cx="0" cy="292608"/>
          </a:xfrm>
          <a:prstGeom prst="line">
            <a:avLst/>
          </a:prstGeom>
          <a:noFill/>
          <a:ln w="19050">
            <a:solidFill>
              <a:srgbClr val="6FB3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57016"/>
            <a:ext cx="548640" cy="548640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557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06240" y="3557016"/>
            <a:ext cx="7345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“Mais curto”, “adicione o cenário de baixa”, “inclua condições”.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105656"/>
            <a:ext cx="0" cy="292608"/>
          </a:xfrm>
          <a:prstGeom prst="line">
            <a:avLst/>
          </a:prstGeom>
          <a:noFill/>
          <a:ln w="19050">
            <a:solidFill>
              <a:srgbClr val="6FB3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398264"/>
            <a:ext cx="548640" cy="548640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3982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Autocrítica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06240" y="4398264"/>
            <a:ext cx="7345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“Aponte 3 fraquezas e os números/cláusulas a checar.”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4946904"/>
            <a:ext cx="0" cy="292608"/>
          </a:xfrm>
          <a:prstGeom prst="line">
            <a:avLst/>
          </a:prstGeom>
          <a:noFill/>
          <a:ln w="19050">
            <a:solidFill>
              <a:srgbClr val="6FB3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239512"/>
            <a:ext cx="548640" cy="548640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239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2395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06240" y="5239512"/>
            <a:ext cx="7345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o documento, a planilha ou os slides para download.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TRILHA DE SUBSCRIÇÃO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 do parecer de subscrição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2144268"/>
          </a:xfrm>
          <a:prstGeom prst="rect">
            <a:avLst/>
          </a:prstGeom>
          <a:solidFill>
            <a:srgbClr val="F4F1EA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82296" cy="214426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86537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e adapte: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249424"/>
            <a:ext cx="10454335" cy="159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Você assessora o comitê de subscrição da Bastião. Com base no dossiê do edital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nas abas Tomadores e Apólices do Projeto, escreva um parecer de 1-2 páginas com: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resumo do risco; (2) crédito do tomador (alavancagem, liquidez, contingências);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 cláusulas-chave do edital (valor, retomada, vigência, multas); (4) concentração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vs. limite aprovado; (5) recomendação clara (aprovar / aprovar com condições / recusar).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Marque com [VERIFICAR] todo número que dependa de fonte externa.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Depois, gere o parecer como documento para download.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2E7D8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7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Personalização e Skills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Personalizar, usar Skills prontas e construir a sua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Deixe o Claude do seu jeito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548640" cy="548640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9751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Preferências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VALEM PARA TODAS AS CONVERSAS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0" y="1828800"/>
            <a:ext cx="6065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“Recomendação primeiro, depois os porquês. Nunca invente números.”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990088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F2F6F7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236976"/>
            <a:ext cx="548640" cy="548640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36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3136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Instruções de Projeto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3557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VALEM SÓ NAQUELE PROJETO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2990088"/>
            <a:ext cx="6065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padrão do parecer e a política de alçada do time.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51376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398264"/>
            <a:ext cx="548640" cy="548640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Estilos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4718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JEITO DE ESCREVER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4151376"/>
            <a:ext cx="6065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estilo “Parecer Bastião” treinado em pareceres antigos.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Skills: ensine um fluxo uma vez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911535" cy="1143000"/>
          </a:xfrm>
          <a:prstGeom prst="roundRect">
            <a:avLst>
              <a:gd name="adj" fmla="val 6400"/>
            </a:avLst>
          </a:prstGeom>
          <a:solidFill>
            <a:srgbClr val="EEF4F6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1874520"/>
            <a:ext cx="658368" cy="658368"/>
          </a:xfrm>
          <a:prstGeom prst="ellipse">
            <a:avLst/>
          </a:prstGeom>
          <a:solidFill>
            <a:srgbClr val="1432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311" y="2052279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627632"/>
            <a:ext cx="93113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Skill é um pacote reutilizável de instruções que ensina o Claude a fazer uma tarefa recorrente do seu jeito.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usou hoje: ao gerar o parecer em Word ou um deck, foram as Skills de documentos.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522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971800"/>
            <a:ext cx="5227168" cy="54864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081528"/>
            <a:ext cx="522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PRONTAS (DA ANTHROPIC)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365760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— criar e editar documentos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planilhas e cálculos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— apresentações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— gerar e preencher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24448" y="2971800"/>
            <a:ext cx="5227168" cy="2286000"/>
          </a:xfrm>
          <a:prstGeom prst="roundRect">
            <a:avLst>
              <a:gd name="adj" fmla="val 3200"/>
            </a:avLst>
          </a:prstGeom>
          <a:solidFill>
            <a:srgbClr val="F2F6F7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24448" y="2971800"/>
            <a:ext cx="5227168" cy="548640"/>
          </a:xfrm>
          <a:prstGeom prst="rect">
            <a:avLst/>
          </a:prstGeom>
          <a:solidFill>
            <a:srgbClr val="14323F"/>
          </a:solidFill>
          <a:ln/>
        </p:spPr>
      </p:sp>
      <p:sp>
        <p:nvSpPr>
          <p:cNvPr id="14" name="Text 11"/>
          <p:cNvSpPr/>
          <p:nvPr/>
        </p:nvSpPr>
        <p:spPr>
          <a:xfrm>
            <a:off x="6324448" y="3081528"/>
            <a:ext cx="522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LIGAR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44488" y="365760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Configurações › Capacidades: ligue “Execução de código e criação de arquivos”.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Personalizar › Skills: ative as que quiser.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Pronto: o Claude usa a Skill sozinho quando faz sentido — você não precisa “chamar”.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  •  SKILLS PRONTAS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uma Skill pronta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284732"/>
          </a:xfrm>
          <a:prstGeom prst="rect">
            <a:avLst/>
          </a:prstGeom>
          <a:solidFill>
            <a:srgbClr val="F4F1EA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284732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1109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as Skills de documentos ligadas, peça: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295144"/>
            <a:ext cx="10454335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Crie uma apresentação de 5 slides resumindo a análise da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carteira da Bastião: tendência de sinistralidade, as maiores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concentrações e a decisão da Pilar — para o comitê de risco.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  •  CONSTRUA A SUA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Construa a sua primeira Skill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420624" cy="420624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43584" y="1755648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› Capacidades: ligue “Execução de código e criação de arquivos”.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03704"/>
            <a:ext cx="420624" cy="420624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43584" y="2203704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Personalizar › Skills › “+ Criar skill”.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420624" cy="420624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43584" y="2651760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um nome e uma descrição curta — é o que diz ao Claude QUANDO usar.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099816"/>
            <a:ext cx="420624" cy="420624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43584" y="3099816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as instruções (estrutura do parecer, alçada, regra do [VERIFICAR]).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47872"/>
            <a:ext cx="420624" cy="420624"/>
          </a:xfrm>
          <a:prstGeom prst="ellipse">
            <a:avLst/>
          </a:prstGeom>
          <a:solidFill>
            <a:srgbClr val="14323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43584" y="3547872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peça “gere o parecer do tomador X” e veja a Skill entrar sozinha.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10911535" cy="1929384"/>
          </a:xfrm>
          <a:prstGeom prst="rect">
            <a:avLst/>
          </a:prstGeom>
          <a:solidFill>
            <a:srgbClr val="F4F1EA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069080"/>
            <a:ext cx="82296" cy="1929384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19709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como base da sua Skill: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4581144"/>
            <a:ext cx="10454335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Nome: Parecer de Subscrição Padrão Bastião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Descrição: Use para redigir pareceres de subscrição de seguro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garantia no formato e na política de alçada da casa.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Instruções: estrutura — (1) risco; (2) crédito do tomador;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 cláusulas do edital; (4) concentração vs. limite; (5) reco-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mendação e condições. Marque [VERIFICAR] nos números externos.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2E7D8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7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Conexões (MCP)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o Claude às suas fontes e sistemas — com governança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MCP: conecte o Claude às fontes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EEF4F6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01952"/>
            <a:ext cx="676656" cy="676656"/>
          </a:xfrm>
          <a:prstGeom prst="ellipse">
            <a:avLst/>
          </a:prstGeom>
          <a:solidFill>
            <a:srgbClr val="1432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537" y="2084649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627632"/>
            <a:ext cx="92656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 é o padrão aberto que liga o Claude às suas fontes e sistemas — no Claude, aparece como Conectores.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só trabalhar no que você cola, ele lê direto das fontes aprovadas.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035808"/>
            <a:ext cx="52271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3035808"/>
            <a:ext cx="5227168" cy="54864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145536"/>
            <a:ext cx="522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CONEXÕES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370332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e-mail e agenda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GitHub, Jira, Salesforce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conector personalizado (MCP): sistemas internos de apólices/sinistros e BI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24448" y="3035808"/>
            <a:ext cx="5227168" cy="2240280"/>
          </a:xfrm>
          <a:prstGeom prst="roundRect">
            <a:avLst>
              <a:gd name="adj" fmla="val 3265"/>
            </a:avLst>
          </a:prstGeom>
          <a:solidFill>
            <a:srgbClr val="F2F6F7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24448" y="3035808"/>
            <a:ext cx="5227168" cy="548640"/>
          </a:xfrm>
          <a:prstGeom prst="rect">
            <a:avLst/>
          </a:prstGeom>
          <a:solidFill>
            <a:srgbClr val="14323F"/>
          </a:solidFill>
          <a:ln/>
        </p:spPr>
      </p:sp>
      <p:sp>
        <p:nvSpPr>
          <p:cNvPr id="14" name="Text 11"/>
          <p:cNvSpPr/>
          <p:nvPr/>
        </p:nvSpPr>
        <p:spPr>
          <a:xfrm>
            <a:off x="6324448" y="3145536"/>
            <a:ext cx="522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CONECTAR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44488" y="370332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Personalizar › Conectores (ou o “+” no chat): escolha um pronto do diretório.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“Adicionar conector” com a URL do servidor; autentica via OAuth.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Ligue/desligue por conversa no “+”.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 — EXEMPLO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mcp-brasil: o Brasil público via MCP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911535" cy="1143000"/>
          </a:xfrm>
          <a:prstGeom prst="roundRect">
            <a:avLst>
              <a:gd name="adj" fmla="val 6400"/>
            </a:avLst>
          </a:prstGeom>
          <a:solidFill>
            <a:srgbClr val="EEF4F6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01952"/>
            <a:ext cx="676656" cy="676656"/>
          </a:xfrm>
          <a:prstGeom prst="ellipse">
            <a:avLst/>
          </a:prstGeom>
          <a:solidFill>
            <a:srgbClr val="1432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537" y="2084649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627632"/>
            <a:ext cx="92656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 aberto que conecta o Claude a ~70 fontes de dados públicas do Brasil (533 ferramentas).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seguro garantia é ouro: dá para puxar o edital e checar o tomador em fontes oficiais.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035808"/>
            <a:ext cx="52271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3035808"/>
            <a:ext cx="5227168" cy="54864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145536"/>
            <a:ext cx="522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SUBSCRIÇÃO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3657600"/>
            <a:ext cx="4678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PNCP / Compras — editais e contratos públicos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e TCU — sanções e inidôneos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DataJud — processos e litígios do tomador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BrasilAPI — CNPJ e dados cadastrais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— Selic, IPCA, câmbio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24448" y="3035808"/>
            <a:ext cx="5227168" cy="2240280"/>
          </a:xfrm>
          <a:prstGeom prst="roundRect">
            <a:avLst>
              <a:gd name="adj" fmla="val 3265"/>
            </a:avLst>
          </a:prstGeom>
          <a:solidFill>
            <a:srgbClr val="F2F6F7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24448" y="3035808"/>
            <a:ext cx="5227168" cy="548640"/>
          </a:xfrm>
          <a:prstGeom prst="rect">
            <a:avLst/>
          </a:prstGeom>
          <a:solidFill>
            <a:srgbClr val="14323F"/>
          </a:solidFill>
          <a:ln/>
        </p:spPr>
      </p:sp>
      <p:sp>
        <p:nvSpPr>
          <p:cNvPr id="14" name="Text 11"/>
          <p:cNvSpPr/>
          <p:nvPr/>
        </p:nvSpPr>
        <p:spPr>
          <a:xfrm>
            <a:off x="6324448" y="3145536"/>
            <a:ext cx="522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CONECTAR (COM O TI)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44488" y="3657600"/>
            <a:ext cx="4678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via Python (uvx): conecta no Claude Desktop ou no Claude Code.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app/web: o TI publica num endereço HTTPS e provisiona como conector da organização; cada um liga no “+”.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das ~70 fontes não exigem chave.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  •  DADOS PÚBLICOS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Subscrição com dados públicos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714500"/>
          </a:xfrm>
          <a:prstGeom prst="rect">
            <a:avLst/>
          </a:prstGeom>
          <a:solidFill>
            <a:srgbClr val="F4F1EA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714500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1109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mcp-brasil conectado (o TI/facilitador deixa pronto), peça: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295144"/>
            <a:ext cx="10454335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Busque no PNCP uma licitação recente de obra de infraestrutura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resuma objeto, valor e a garantia exigida. Depois, para uma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construtora de capital aberto à sua escolha, traga dados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cadastrais (CNPJ) e verifique sanções públicas; e puxe a Selic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o IPCA dos últimos 12 meses para a precificação.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726180"/>
            <a:ext cx="10911535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E7D3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726180"/>
            <a:ext cx="82296" cy="640080"/>
          </a:xfrm>
          <a:prstGeom prst="rect">
            <a:avLst/>
          </a:prstGeom>
          <a:solidFill>
            <a:srgbClr val="9C5700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72618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9C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é dado público oficial — ainda assim, confirme nas fontes e nunca cole dados confidenciais de tomadores.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 COM RESPONSABILIDADE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com governança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2716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1432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942" y="227594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9456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checar antes de conectar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45870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fontes aprovadas pela empresa.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e escopo mínimo — de preferência leitura; revogue quando quiser.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Team/Enterprise, um Owner provisiona; cada um conecta com o seu acesso.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Claude acessa da nuvem da Anthropic — sistema interno precisa estar acessível (allowlist).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e sigilo de tomadores e segurados.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4448" y="1828800"/>
            <a:ext cx="5227168" cy="3246120"/>
          </a:xfrm>
          <a:prstGeom prst="roundRect">
            <a:avLst>
              <a:gd name="adj" fmla="val 2254"/>
            </a:avLst>
          </a:prstGeom>
          <a:solidFill>
            <a:srgbClr val="F4F1EA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24448" y="1828800"/>
            <a:ext cx="109728" cy="3246120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1" name="Text 8"/>
          <p:cNvSpPr/>
          <p:nvPr/>
        </p:nvSpPr>
        <p:spPr>
          <a:xfrm>
            <a:off x="6690208" y="210312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Exercício — planeje, não conecte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90208" y="2697480"/>
            <a:ext cx="458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3 fontes internas que valeria conectar via MCP, o ganho de cada uma e o portão de governança (quem aprova e qual escopo).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90208" y="438912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9C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não conectamos dados reais — é um exercício de planejamento.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2E7D8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7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Riscos e governança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verdadeiro papel da liderança é governar o uso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 pode errar com confiança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146304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109728" cy="1463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148840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695" y="235869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1828800"/>
            <a:ext cx="91741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Nunca leve adiante um número, uma cláusula ou uma fonte que você não verificou.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acelera o rascunho. A responsabilidade pela verdade — e pela subscrição — continua sua.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Demonstração:  </a:t>
            </a:r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um dado obscuro e específico (uma estatística de nicho, uma citação) e mostre como pode vir plausível e errado.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SIGILO E LGPD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pode entrar nas ferramentas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62858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01469" y="2148840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7180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pública, dados fictícios, rascunhos sem dados de pessoas.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14418" y="1828800"/>
            <a:ext cx="3362858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75808" y="2148840"/>
            <a:ext cx="640080" cy="640080"/>
          </a:xfrm>
          <a:prstGeom prst="ellipse">
            <a:avLst/>
          </a:prstGeom>
          <a:solidFill>
            <a:srgbClr val="9C5700"/>
          </a:solidFill>
          <a:ln/>
        </p:spPr>
      </p:sp>
      <p:sp>
        <p:nvSpPr>
          <p:cNvPr id="10" name="Text 8"/>
          <p:cNvSpPr/>
          <p:nvPr/>
        </p:nvSpPr>
        <p:spPr>
          <a:xfrm>
            <a:off x="4688738" y="297180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Cautela / aprovação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88738" y="347472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segurados, balanços não públicos, sinistros, segredos comerciais.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8757" y="1828800"/>
            <a:ext cx="3362858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550146" y="21488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8463077" y="297180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 material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63077" y="347472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for dado pessoal ou confidencial em ferramenta não aprovada.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tema de board: vazamento é risco material e de LGPD. Confirme qual versão a empresa aprovou.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E LIDERANÇA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Governar, não só usar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2716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Regulação e responsabilidade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5870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subscrição e sinistro com rastreabilidade e revisão humana.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automatizar negativa de cobertura sem responsável nomeado.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Claude não substitui parecer jurídico ou atuarial — é insumo.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humano nomeado responde por cada decisão apoiada por IA.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4448" y="1828800"/>
            <a:ext cx="5227168" cy="3108960"/>
          </a:xfrm>
          <a:prstGeom prst="roundRect">
            <a:avLst>
              <a:gd name="adj" fmla="val 2353"/>
            </a:avLst>
          </a:prstGeom>
          <a:solidFill>
            <a:srgbClr val="EEF4F6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44488" y="205740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Liderar a organização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44488" y="2560320"/>
            <a:ext cx="458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do C-level não é “como eu uso”, e sim “como faço a organização usar bem”.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44488" y="3429000"/>
            <a:ext cx="458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e ferramentas aprovadas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por papel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casos de uso com dono e métrica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trimestral: tempo, qualidade, risco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2E7D8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7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 e fechamento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daqui com compromissos concretos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30-60-90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compromissos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6285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362858" cy="777240"/>
          </a:xfrm>
          <a:prstGeom prst="rect">
            <a:avLst/>
          </a:prstGeom>
          <a:solidFill>
            <a:srgbClr val="6FB3B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93392"/>
            <a:ext cx="336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 semana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tarefa para delegar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os editais da semana antes do comitê.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14418" y="1828800"/>
            <a:ext cx="336285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4418" y="1828800"/>
            <a:ext cx="3362858" cy="77724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1" name="Text 9"/>
          <p:cNvSpPr/>
          <p:nvPr/>
        </p:nvSpPr>
        <p:spPr>
          <a:xfrm>
            <a:off x="4414418" y="1993392"/>
            <a:ext cx="336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mês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88738" y="28346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processo para melhorar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88738" y="338328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o parecer (instruções de Projeto).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88757" y="1828800"/>
            <a:ext cx="336285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8757" y="1828800"/>
            <a:ext cx="3362858" cy="777240"/>
          </a:xfrm>
          <a:prstGeom prst="rect">
            <a:avLst/>
          </a:prstGeom>
          <a:solidFill>
            <a:srgbClr val="14323F"/>
          </a:solidFill>
          <a:ln/>
        </p:spPr>
      </p:sp>
      <p:sp>
        <p:nvSpPr>
          <p:cNvPr id="16" name="Text 14"/>
          <p:cNvSpPr/>
          <p:nvPr/>
        </p:nvSpPr>
        <p:spPr>
          <a:xfrm>
            <a:off x="8188757" y="1993392"/>
            <a:ext cx="336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trimestre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63077" y="28346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capacidade no 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3077" y="338328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dados/LGPD e capacitação da subscrição.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Bastião Seguradora (caso fictício)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4114800"/>
            <a:ext cx="4572000" cy="4572000"/>
          </a:xfrm>
          <a:prstGeom prst="ellipse">
            <a:avLst/>
          </a:prstGeom>
          <a:solidFill>
            <a:srgbClr val="2E7D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286000"/>
            <a:ext cx="457200" cy="54864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14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“Não estou aprendendo a usar uma ferramenta.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FB3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Estou aprendendo a delegar a leitura e a revisar melhor a decisão.”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com você: a biblioteca de prompts e o checklist de governança (no guia do facilitador).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o Claude  •  Programa Executivo  •  Bastião Seguradora (caso fictício)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Dominando o Claude — Seguro Garantia</dc:title>
  <dc:subject>PptxGenJS Presentation</dc:subject>
  <dc:creator>Programa Executivo</dc:creator>
  <cp:lastModifiedBy>Programa Executivo</cp:lastModifiedBy>
  <cp:revision>1</cp:revision>
  <dcterms:created xsi:type="dcterms:W3CDTF">2026-06-05T23:11:26Z</dcterms:created>
  <dcterms:modified xsi:type="dcterms:W3CDTF">2026-06-05T23:11:26Z</dcterms:modified>
</cp:coreProperties>
</file>